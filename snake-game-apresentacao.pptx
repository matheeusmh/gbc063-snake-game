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Plus Jakarta Sans"/>
      <p:bold r:id="rId5"/>
    </p:embeddedFont>
    <p:embeddedFont>
      <p:font typeface="Space Grotesk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microsoft.com/office/2016/11/relationships/changesInfo" Target="changesInfos/changesInfo1.xml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Henrique de Andrade Pires." userId="4f7e66476b82237b" providerId="LiveId" clId="{4359D718-6623-4306-904E-8960D7912D9F}"/>
    <pc:docChg chg="custSel delSld modSld">
      <pc:chgData name="Matheus Henrique de Andrade Pires." userId="4f7e66476b82237b" providerId="LiveId" clId="{4359D718-6623-4306-904E-8960D7912D9F}" dt="2026-10-29T01:59:33.022" v="17" actId="14100"/>
      <pc:docMkLst>
        <pc:docMk/>
      </pc:docMkLst>
      <pc:sldChg chg="delSp modSp mod">
        <pc:chgData name="Matheus Henrique de Andrade Pires." userId="4f7e66476b82237b" providerId="LiveId" clId="{4359D718-6623-4306-904E-8960D7912D9F}" dt="2026-10-29T01:58:18.289" v="6" actId="1076"/>
        <pc:sldMkLst>
          <pc:docMk/>
          <pc:sldMk cId="0" sldId="256"/>
        </pc:sldMkLst>
        <pc:spChg chg="mod">
          <ac:chgData name="Matheus Henrique de Andrade Pires." userId="4f7e66476b82237b" providerId="LiveId" clId="{4359D718-6623-4306-904E-8960D7912D9F}" dt="2026-10-29T01:58:18.289" v="6" actId="1076"/>
          <ac:spMkLst>
            <pc:docMk/>
            <pc:sldMk cId="0" sldId="256"/>
            <ac:spMk id="20" creationId="{00000000-0000-0000-0000-000000000000}"/>
          </ac:spMkLst>
        </pc:spChg>
        <pc:picChg chg="del">
          <ac:chgData name="Matheus Henrique de Andrade Pires." userId="4f7e66476b82237b" providerId="LiveId" clId="{4359D718-6623-4306-904E-8960D7912D9F}" dt="2026-10-29T01:57:39.131" v="0" actId="478"/>
          <ac:picMkLst>
            <pc:docMk/>
            <pc:sldMk cId="0" sldId="256"/>
            <ac:picMk id="38" creationId="{00000000-0000-0000-0000-000000000000}"/>
          </ac:picMkLst>
        </pc:picChg>
      </pc:sldChg>
      <pc:sldChg chg="delSp mod">
        <pc:chgData name="Matheus Henrique de Andrade Pires." userId="4f7e66476b82237b" providerId="LiveId" clId="{4359D718-6623-4306-904E-8960D7912D9F}" dt="2026-10-29T01:57:57.239" v="3" actId="478"/>
        <pc:sldMkLst>
          <pc:docMk/>
          <pc:sldMk cId="0" sldId="257"/>
        </pc:sldMkLst>
        <pc:picChg chg="del">
          <ac:chgData name="Matheus Henrique de Andrade Pires." userId="4f7e66476b82237b" providerId="LiveId" clId="{4359D718-6623-4306-904E-8960D7912D9F}" dt="2026-10-29T01:57:57.239" v="3" actId="478"/>
          <ac:picMkLst>
            <pc:docMk/>
            <pc:sldMk cId="0" sldId="257"/>
            <ac:picMk id="50" creationId="{00000000-0000-0000-0000-000000000000}"/>
          </ac:picMkLst>
        </pc:picChg>
      </pc:sldChg>
      <pc:sldChg chg="delSp modSp mod">
        <pc:chgData name="Matheus Henrique de Andrade Pires." userId="4f7e66476b82237b" providerId="LiveId" clId="{4359D718-6623-4306-904E-8960D7912D9F}" dt="2026-10-29T01:59:33.022" v="17" actId="14100"/>
        <pc:sldMkLst>
          <pc:docMk/>
          <pc:sldMk cId="0" sldId="258"/>
        </pc:sldMkLst>
        <pc:spChg chg="mod">
          <ac:chgData name="Matheus Henrique de Andrade Pires." userId="4f7e66476b82237b" providerId="LiveId" clId="{4359D718-6623-4306-904E-8960D7912D9F}" dt="2026-10-29T01:59:17.666" v="13" actId="1410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1:59:24.609" v="15" actId="14100"/>
          <ac:spMkLst>
            <pc:docMk/>
            <pc:sldMk cId="0" sldId="258"/>
            <ac:spMk id="34" creationId="{00000000-0000-0000-0000-000000000000}"/>
          </ac:spMkLst>
        </pc:spChg>
        <pc:spChg chg="mod">
          <ac:chgData name="Matheus Henrique de Andrade Pires." userId="4f7e66476b82237b" providerId="LiveId" clId="{4359D718-6623-4306-904E-8960D7912D9F}" dt="2026-10-29T01:59:33.022" v="17" actId="14100"/>
          <ac:spMkLst>
            <pc:docMk/>
            <pc:sldMk cId="0" sldId="258"/>
            <ac:spMk id="37" creationId="{00000000-0000-0000-0000-000000000000}"/>
          </ac:spMkLst>
        </pc:spChg>
        <pc:picChg chg="del">
          <ac:chgData name="Matheus Henrique de Andrade Pires." userId="4f7e66476b82237b" providerId="LiveId" clId="{4359D718-6623-4306-904E-8960D7912D9F}" dt="2026-10-29T01:57:52.306" v="1" actId="478"/>
          <ac:picMkLst>
            <pc:docMk/>
            <pc:sldMk cId="0" sldId="258"/>
            <ac:picMk id="38" creationId="{00000000-0000-0000-0000-000000000000}"/>
          </ac:picMkLst>
        </pc:picChg>
      </pc:sldChg>
      <pc:sldChg chg="del">
        <pc:chgData name="Matheus Henrique de Andrade Pires." userId="4f7e66476b82237b" providerId="LiveId" clId="{4359D718-6623-4306-904E-8960D7912D9F}" dt="2026-10-29T01:57:54.359" v="2" actId="47"/>
        <pc:sldMkLst>
          <pc:docMk/>
          <pc:sldMk cId="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267950" y="841920"/>
            <a:ext cx="1314450" cy="2571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451520"/>
            <a:ext cx="4460825" cy="2000250"/>
          </a:xfrm>
          <a:prstGeom prst="roundRect">
            <a:avLst>
              <a:gd name="adj" fmla="val 7619"/>
            </a:avLst>
          </a:prstGeom>
          <a:noFill/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585120"/>
            <a:ext cx="4460825" cy="2348954"/>
          </a:xfrm>
          <a:prstGeom prst="roundRect">
            <a:avLst>
              <a:gd name="adj" fmla="val 6487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7125" y="1451520"/>
            <a:ext cx="6245274" cy="790575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7125" y="2337345"/>
            <a:ext cx="6245274" cy="771525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7125" y="3204120"/>
            <a:ext cx="6245274" cy="771525"/>
          </a:xfrm>
          <a:prstGeom prst="roundRect">
            <a:avLst>
              <a:gd name="adj" fmla="val 197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7125" y="4070895"/>
            <a:ext cx="6245274" cy="733425"/>
          </a:xfrm>
          <a:prstGeom prst="roundRect">
            <a:avLst>
              <a:gd name="adj" fmla="val 20779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2475" y="3051720"/>
            <a:ext cx="2447925" cy="257175"/>
          </a:xfrm>
          <a:prstGeom prst="roundRect">
            <a:avLst>
              <a:gd name="adj" fmla="val 29629"/>
            </a:avLst>
          </a:prstGeom>
          <a:solidFill>
            <a:srgbClr val="26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0000" y="159439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0000" y="248022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0000" y="334699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480095"/>
            <a:ext cx="4403675" cy="1943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000" y="421377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775620"/>
            <a:ext cx="1619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537" y="4313783"/>
            <a:ext cx="12382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6248400"/>
            <a:ext cx="385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Matheus Henrique de Andrade Pires — 12411BCC061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2984" y="6248400"/>
            <a:ext cx="131606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 err="1">
                <a:solidFill>
                  <a:srgbClr val="64748B"/>
                </a:solidFill>
                <a:latin typeface="Plus Jakarta Sans"/>
              </a:rPr>
              <a:t>Inteligência</a:t>
            </a:r>
            <a:r>
              <a:rPr sz="975" b="1" i="0" u="none" dirty="0">
                <a:solidFill>
                  <a:srgbClr val="64748B"/>
                </a:solidFill>
                <a:latin typeface="Plus Jakarta Sans"/>
              </a:rPr>
              <a:t> Artificial (IA)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762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SLIDE 1 DE 3 • DESAFIO 1: AMBIENTE E ESTADO MARKOVIANO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85800"/>
            <a:ext cx="8001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1. O Ambiente e a Descrição do Estado (S)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050" y="899070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5803D"/>
                </a:solidFill>
                <a:latin typeface="Plus Jakarta Sans"/>
              </a:rPr>
              <a:t>SNAKE GAME MDP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3108870"/>
            <a:ext cx="2314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Grade Discreta (Totalmente Observável)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3747045"/>
            <a:ext cx="5429780" cy="1809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Observabilidade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3966120"/>
            <a:ext cx="423222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Plus Jakarta Sans"/>
              </a:rPr>
              <a:t>O agente enxerga o tabuleiro inteiro a cada instante. Não há incerteza sobre o estado atual, caracterizando um </a:t>
            </a:r>
            <a:r>
              <a:rPr sz="900" b="1" i="0" u="none">
                <a:solidFill>
                  <a:srgbClr val="475569"/>
                </a:solidFill>
                <a:latin typeface="Plus Jakarta Sans"/>
              </a:rPr>
              <a:t>MDP completo</a:t>
            </a:r>
            <a:r>
              <a:rPr sz="900" b="0" i="0" u="none">
                <a:solidFill>
                  <a:srgbClr val="475569"/>
                </a:solidFill>
                <a:latin typeface="Plus Jakarta Sans"/>
              </a:rPr>
              <a:t> (e não um POMDP).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7125" y="159439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15803D"/>
                </a:solidFill>
                <a:latin typeface="Plus Jakarta San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7125" y="248022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Plus Jakarta San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7125" y="334699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854D0E"/>
                </a:solidFill>
                <a:latin typeface="Plus Jakarta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6250" y="1594395"/>
            <a:ext cx="62357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Cobra: Cabeça &amp; Corpo Ordenado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6250" y="1794420"/>
            <a:ext cx="557852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Lista de coordenadas [(x₀,y₀), (x₁,y₁), ..., cauda]. A direção atual é deduzida da cabeça em relação ao 2º segmento.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6250" y="2480220"/>
            <a:ext cx="62357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Posição da Comida / Maçã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6250" y="2680245"/>
            <a:ext cx="55785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Coordenada (x, y) da célula livre sorteada. Permite calcular distâncias e orientar a tomada de decisão.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56250" y="3346995"/>
            <a:ext cx="62357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Contador de Passos Sem Comer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6250" y="3547020"/>
            <a:ext cx="557852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Plus Jakarta Sans"/>
              </a:rPr>
              <a:t>Informa há quanto tempo o agente está andando sem alimento, evitando loops e mantendo a dinâmica markoviana.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6250" y="4213770"/>
            <a:ext cx="62357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Propriedade Markoviana Atendida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6250" y="4404270"/>
            <a:ext cx="557852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"/>
              </a:rPr>
              <a:t>P(s' | s, a) depende unicamente da situação atual do estado s e da ação a, dispensando o histórico passado de jogadas.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267950" y="841920"/>
            <a:ext cx="1314450" cy="2571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451520"/>
            <a:ext cx="4476750" cy="1117996"/>
          </a:xfrm>
          <a:prstGeom prst="roundRect">
            <a:avLst>
              <a:gd name="adj" fmla="val 13631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721917"/>
            <a:ext cx="4476750" cy="3212157"/>
          </a:xfrm>
          <a:prstGeom prst="roundRect">
            <a:avLst>
              <a:gd name="adj" fmla="val 47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14950" y="1451520"/>
            <a:ext cx="626745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14950" y="2604045"/>
            <a:ext cx="626745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14950" y="3756570"/>
            <a:ext cx="6267450" cy="1019175"/>
          </a:xfrm>
          <a:prstGeom prst="roundRect">
            <a:avLst>
              <a:gd name="adj" fmla="val 14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14950" y="2461170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14950" y="1451520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14950" y="1451520"/>
            <a:ext cx="57150" cy="10191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72875" y="1451520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14950" y="3613695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14950" y="2604045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14950" y="2604045"/>
            <a:ext cx="57150" cy="101917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572875" y="2604045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14950" y="4766220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14950" y="3756570"/>
            <a:ext cx="6267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14950" y="3756570"/>
            <a:ext cx="57150" cy="10191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3756570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7725" y="3217217"/>
            <a:ext cx="1952625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95600" y="3217217"/>
            <a:ext cx="1952625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7725" y="3760142"/>
            <a:ext cx="1952625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895600" y="3760142"/>
            <a:ext cx="1952625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03933"/>
            <a:ext cx="238125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3369617"/>
            <a:ext cx="1143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687" y="3369617"/>
            <a:ext cx="1143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650" y="3912542"/>
            <a:ext cx="13335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3912542"/>
            <a:ext cx="13335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600" y="6248400"/>
            <a:ext cx="385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Matheus Henrique de Andrade Pires — 12411BCC061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15550" y="6248400"/>
            <a:ext cx="1833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Inteligência Artificial (IA)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457200"/>
            <a:ext cx="7798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SLIDE 2 DE 3 • TOMADA DE DECISÃO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85800"/>
            <a:ext cx="818852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2. O Agente, Ações (A) e Transição P(s'|s,a)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6050" y="899070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5803D"/>
                </a:solidFill>
                <a:latin typeface="Plus Jakarta Sans"/>
              </a:rPr>
              <a:t>SNAKE GAME MDP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1984920"/>
            <a:ext cx="40957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Aprender uma política de controle em tempo real para encontrar comida, evitar colisões e maximizar a pontuação acumulada.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2960042"/>
            <a:ext cx="5000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ESPAÇO DE AÇÕES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4303067"/>
            <a:ext cx="409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* Ações de 180° em relação à direção atual são inválidas (evita colisão no próprio pescoço).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0700" y="1689645"/>
            <a:ext cx="6591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Movimento Determinístico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0700" y="1927770"/>
            <a:ext cx="5838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Com base na ação selecionada, a cabeça avança 1 casa. Se não houver comida, a cauda é removida, mantendo o tamanho fixo.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0700" y="2842170"/>
            <a:ext cx="6591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Sorteio Estocástico da Comida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00700" y="3080295"/>
            <a:ext cx="5838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Ao comer, a cobra cresce 1 segmento e a próxima maçã aparece aleatoriamente em uma das células vazias com prob. uniformemente distribuída.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0700" y="3994695"/>
            <a:ext cx="6591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Condição de Término (Episódio)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0700" y="4232820"/>
            <a:ext cx="58388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Plus Jakarta Sans"/>
              </a:rPr>
              <a:t>A partida se encerra imediatamente ao haver colisão com as paredes limites ou com qualquer parte do próprio corpo.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0150" y="1689645"/>
            <a:ext cx="216277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Objetivo do Agente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946" y="3331517"/>
            <a:ext cx="221218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Cima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5821" y="3331517"/>
            <a:ext cx="221218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Baixo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946" y="3874442"/>
            <a:ext cx="221218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Esquerda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65821" y="3874442"/>
            <a:ext cx="221218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Direita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29275"/>
            <a:ext cx="10972800" cy="4572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451520"/>
            <a:ext cx="3530649" cy="4025354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0749" y="1451520"/>
            <a:ext cx="3530649" cy="4025354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1451520"/>
            <a:ext cx="3530649" cy="4025354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67950" y="841920"/>
            <a:ext cx="1314450" cy="2571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625" y="5019675"/>
            <a:ext cx="3130599" cy="257175"/>
          </a:xfrm>
          <a:prstGeom prst="roundRect">
            <a:avLst>
              <a:gd name="adj" fmla="val 296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30774" y="5019675"/>
            <a:ext cx="3130599" cy="257175"/>
          </a:xfrm>
          <a:prstGeom prst="roundRect">
            <a:avLst>
              <a:gd name="adj" fmla="val 2962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51924" y="5019675"/>
            <a:ext cx="3130599" cy="257175"/>
          </a:xfrm>
          <a:prstGeom prst="roundRect">
            <a:avLst>
              <a:gd name="adj" fmla="val 29629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6262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1651545"/>
            <a:ext cx="3130599" cy="857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774" y="1651545"/>
            <a:ext cx="3130599" cy="857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924" y="1651545"/>
            <a:ext cx="3130599" cy="857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825" y="1851570"/>
            <a:ext cx="40005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1851570"/>
            <a:ext cx="40005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549" y="185157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946" y="5781675"/>
            <a:ext cx="742905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Aprender uma </a:t>
            </a:r>
            <a:r>
              <a:rPr sz="975" b="1" i="0" u="none">
                <a:solidFill>
                  <a:srgbClr val="4ADE80"/>
                </a:solidFill>
                <a:latin typeface="Plus Jakarta Sans"/>
              </a:rPr>
              <a:t>política ótima π*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que maximize o retorno acumulado descontado ao longo de múltiplos episódios.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248400"/>
            <a:ext cx="3857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Matheus Henrique de Andrade Pires — 12411BCC061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6248400"/>
            <a:ext cx="1833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Inteligência Artificial (IA)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8441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SLIDE 3 DE 3 • APRENDIZADO POR REFORÇO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85800"/>
            <a:ext cx="8863607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3. Função de Recompensa (R) e Política Ótima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050" y="899070"/>
            <a:ext cx="1143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15803D"/>
                </a:solidFill>
                <a:latin typeface="Plus Jakarta Sans"/>
              </a:rPr>
              <a:t>SNAKE GAME MDP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50" y="5076825"/>
            <a:ext cx="37989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5803D"/>
                </a:solidFill>
                <a:latin typeface="Plus Jakarta Sans"/>
              </a:rPr>
              <a:t>Reforço Positivo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6599" y="5076825"/>
            <a:ext cx="37989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91B1B"/>
                </a:solidFill>
                <a:latin typeface="Plus Jakarta Sans"/>
              </a:rPr>
              <a:t>Penalidade Severa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7749" y="5076825"/>
            <a:ext cx="37989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854D0E"/>
                </a:solidFill>
                <a:latin typeface="Plus Jakarta Sans"/>
              </a:rPr>
              <a:t>Eficiência Temporal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772150"/>
            <a:ext cx="1654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Síntese do Objetivo: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300" y="2623095"/>
            <a:ext cx="39132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6A34A"/>
                </a:solidFill>
                <a:latin typeface="Plus Jakarta Sans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468" y="2880270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Comer (+10)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4" y="3118395"/>
            <a:ext cx="3130599" cy="322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Recompensa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positiva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imediata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ao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alcançar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a comida.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Incentiva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cumprimento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do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objetivo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principal.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9449" y="2623095"/>
            <a:ext cx="39132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DC2626"/>
                </a:solidFill>
                <a:latin typeface="Plus Jakarta Sa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1618" y="2880270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Colisão (−100)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0774" y="3070770"/>
            <a:ext cx="3130599" cy="322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Penalidade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forte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ao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colidir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com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parede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ou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corpo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. Torna o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suicídio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/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morte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pior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que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qualquer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movimento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risco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0599" y="2623095"/>
            <a:ext cx="39132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62768" y="2880270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Passo (−0.1)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1924" y="3156495"/>
            <a:ext cx="3130452" cy="322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Pequena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custo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por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movimento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sem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progresso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. Impede loops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infinitos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e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força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o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agente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a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buscar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caminhos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Plus Jakarta Sans"/>
              </a:rPr>
              <a:t>curtos</a:t>
            </a:r>
            <a:r>
              <a:rPr sz="9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509</Words>
  <Application>Microsoft Office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Calibri</vt:lpstr>
      <vt:lpstr>Arial</vt:lpstr>
      <vt:lpstr>Space Grotesk</vt:lpstr>
      <vt:lpstr>Plus Jakarta Sans</vt:lpstr>
      <vt:lpstr>Office Theme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Matheus Henrique de Andrade Pires.</cp:lastModifiedBy>
  <cp:revision>1</cp:revision>
  <dcterms:created xsi:type="dcterms:W3CDTF">2013-01-27T09:14:16Z</dcterms:created>
  <dcterms:modified xsi:type="dcterms:W3CDTF">2026-10-29T01:59:39Z</dcterms:modified>
  <cp:category/>
</cp:coreProperties>
</file>